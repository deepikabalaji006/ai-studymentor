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88" r:id="rId10"/>
    <p:sldId id="264" r:id="rId11"/>
    <p:sldId id="286" r:id="rId12"/>
    <p:sldId id="28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500C134-0A65-7472-A700-95F4215CF320}"/>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61A6AF7A-A216-C5E6-D554-667AD188C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B5C62961-2DD1-ED3C-86C7-20B560534B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0631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69657902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Deepika B</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deepikabalaji006@gmail.com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7092723388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1569660"/>
          </a:xfrm>
          <a:prstGeom prst="rect">
            <a:avLst/>
          </a:prstGeom>
          <a:noFill/>
        </p:spPr>
        <p:txBody>
          <a:bodyPr wrap="square" rtlCol="0">
            <a:spAutoFit/>
          </a:bodyPr>
          <a:lstStyle/>
          <a:p>
            <a:r>
              <a:rPr lang="en-US" sz="2400" b="1" dirty="0"/>
              <a:t>Project Tile – </a:t>
            </a:r>
            <a:r>
              <a:rPr lang="en-IN" sz="2400" b="1" dirty="0"/>
              <a:t>AI STUDYMENTOR</a:t>
            </a:r>
            <a:r>
              <a:rPr lang="en-IN" sz="2400" dirty="0"/>
              <a:t>: </a:t>
            </a:r>
            <a:r>
              <a:rPr lang="en-IN" sz="2400" i="1" dirty="0"/>
              <a:t>AN AI-POWERED PERSONALIZED LEARNING GUIDANCE SYSTEM</a:t>
            </a:r>
            <a:endParaRPr lang="en-IN" sz="2400" dirty="0"/>
          </a:p>
          <a:p>
            <a:br>
              <a:rPr lang="en-IN" sz="2400" dirty="0"/>
            </a:br>
            <a:endParaRPr lang="en-IN" sz="2400" b="1" dirty="0">
              <a:highlight>
                <a:srgbClr val="FFFF00"/>
              </a:highlight>
            </a:endParaRPr>
          </a:p>
        </p:txBody>
      </p:sp>
      <p:pic>
        <p:nvPicPr>
          <p:cNvPr id="6" name="Picture 5">
            <a:extLst>
              <a:ext uri="{FF2B5EF4-FFF2-40B4-BE49-F238E27FC236}">
                <a16:creationId xmlns:a16="http://schemas.microsoft.com/office/drawing/2014/main" id="{E28C00D7-D9D7-D55A-DFE0-AE579407FC24}"/>
              </a:ext>
            </a:extLst>
          </p:cNvPr>
          <p:cNvPicPr>
            <a:picLocks noChangeAspect="1"/>
          </p:cNvPicPr>
          <p:nvPr/>
        </p:nvPicPr>
        <p:blipFill>
          <a:blip r:embed="rId3"/>
          <a:stretch>
            <a:fillRect/>
          </a:stretch>
        </p:blipFill>
        <p:spPr>
          <a:xfrm>
            <a:off x="4239762" y="3636320"/>
            <a:ext cx="755025" cy="11311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539978"/>
          </a:xfrm>
          <a:prstGeom prst="rect">
            <a:avLst/>
          </a:prstGeom>
          <a:noFill/>
        </p:spPr>
        <p:txBody>
          <a:bodyPr wrap="square" rtlCol="0">
            <a:spAutoFit/>
          </a:bodyPr>
          <a:lstStyle/>
          <a:p>
            <a:r>
              <a:rPr lang="en-IN" sz="2400" dirty="0"/>
              <a:t>Many students and self-learners struggle to choose an effective and structured learning path due to the absence of personalized academic guidance. With the abundance of online courses and resources, learners often feel confused, overwhelmed, and uncertain about what to study next based on their current skill level and career goals. This lack of direction leads to inefficient learning, wasted time, and reduced motivation, especially among beginners and first-generation learners.</a:t>
            </a:r>
          </a:p>
          <a:p>
            <a:r>
              <a:rPr lang="en-IN" sz="2400" dirty="0"/>
              <a:t>There is a need for an intelligent, accessible, and ethical AI-based system that can </a:t>
            </a:r>
            <a:r>
              <a:rPr lang="en-IN" sz="2400" dirty="0" err="1"/>
              <a:t>analyze</a:t>
            </a:r>
            <a:r>
              <a:rPr lang="en-IN" sz="2400" dirty="0"/>
              <a:t> a learner’s skill level and learning objectives to provide clear, personalized, and goal-oriented study guidance. Such a solution should support inclusive education, improve learning clarity, and help learners make informed decisions—contributing directly to </a:t>
            </a:r>
            <a:r>
              <a:rPr lang="en-IN" sz="2400" b="1" dirty="0"/>
              <a:t>SDG 4: Quality Education</a:t>
            </a:r>
            <a:r>
              <a:rPr lang="en-IN" sz="2400" dirty="0"/>
              <a:t>.</a:t>
            </a:r>
          </a:p>
          <a:p>
            <a:br>
              <a:rPr lang="en-IN" dirty="0"/>
            </a:b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5878532"/>
          </a:xfrm>
          <a:prstGeom prst="rect">
            <a:avLst/>
          </a:prstGeom>
          <a:noFill/>
        </p:spPr>
        <p:txBody>
          <a:bodyPr wrap="square" rtlCol="0">
            <a:spAutoFit/>
          </a:bodyPr>
          <a:lstStyle/>
          <a:p>
            <a:pPr fontAlgn="base"/>
            <a:r>
              <a:rPr lang="en-IN" sz="1600" b="1" dirty="0" err="1"/>
              <a:t>LangFlow</a:t>
            </a:r>
            <a:r>
              <a:rPr lang="en-IN" sz="1600" dirty="0"/>
              <a:t> – Used to design and manage AI workflows through a visual interface, enabling seamless integration of AI components. </a:t>
            </a:r>
          </a:p>
          <a:p>
            <a:pPr fontAlgn="base"/>
            <a:endParaRPr lang="en-IN" sz="1600" b="1" dirty="0"/>
          </a:p>
          <a:p>
            <a:pPr fontAlgn="base"/>
            <a:r>
              <a:rPr lang="en-IN" sz="1600" b="1" dirty="0"/>
              <a:t>IBM watsonx.ai</a:t>
            </a:r>
            <a:r>
              <a:rPr lang="en-IN" sz="1600" dirty="0"/>
              <a:t> – Provides the platform for developing, testing, and deploying AI-powered educational assistance and recommendation services. </a:t>
            </a:r>
          </a:p>
          <a:p>
            <a:pPr fontAlgn="base"/>
            <a:endParaRPr lang="en-IN" sz="1600" b="1" dirty="0"/>
          </a:p>
          <a:p>
            <a:pPr fontAlgn="base"/>
            <a:r>
              <a:rPr lang="en-IN" sz="1600" b="1" dirty="0"/>
              <a:t>IBM Granite-4.0-8B-Instruct Model</a:t>
            </a:r>
            <a:r>
              <a:rPr lang="en-IN" sz="1600" dirty="0"/>
              <a:t> – Generates personalized study plans, learning recommendations, and academic guidance based on student inputs. </a:t>
            </a:r>
          </a:p>
          <a:p>
            <a:pPr fontAlgn="base"/>
            <a:endParaRPr lang="en-IN" sz="1600" b="1" dirty="0"/>
          </a:p>
          <a:p>
            <a:pPr fontAlgn="base"/>
            <a:r>
              <a:rPr lang="en-IN" sz="1600" b="1" dirty="0" err="1"/>
              <a:t>Streamlit</a:t>
            </a:r>
            <a:r>
              <a:rPr lang="en-IN" sz="1600" dirty="0"/>
              <a:t> – Used to build an interactive and user-friendly web interface for student interaction.</a:t>
            </a:r>
          </a:p>
          <a:p>
            <a:pPr fontAlgn="base"/>
            <a:endParaRPr lang="en-IN" sz="1600" dirty="0"/>
          </a:p>
          <a:p>
            <a:pPr fontAlgn="base"/>
            <a:r>
              <a:rPr lang="en-IN" sz="1600" dirty="0"/>
              <a:t> </a:t>
            </a:r>
            <a:r>
              <a:rPr lang="en-IN" sz="1600" b="1" dirty="0"/>
              <a:t>Python</a:t>
            </a:r>
            <a:r>
              <a:rPr lang="en-IN" sz="1600" dirty="0"/>
              <a:t> – Implements the core application logic, recommendation engine, and data processing functionalities. </a:t>
            </a:r>
          </a:p>
          <a:p>
            <a:pPr fontAlgn="base"/>
            <a:endParaRPr lang="en-IN" sz="1600" b="1" dirty="0"/>
          </a:p>
          <a:p>
            <a:pPr fontAlgn="base"/>
            <a:r>
              <a:rPr lang="en-IN" sz="1600" b="1" dirty="0"/>
              <a:t>File Component</a:t>
            </a:r>
            <a:r>
              <a:rPr lang="en-IN" sz="1600" dirty="0"/>
              <a:t> – Stores and retrieves student profiles, learning progress, and recommendation history. </a:t>
            </a:r>
          </a:p>
          <a:p>
            <a:pPr fontAlgn="base"/>
            <a:endParaRPr lang="en-IN" sz="1600" b="1" dirty="0"/>
          </a:p>
          <a:p>
            <a:pPr fontAlgn="base"/>
            <a:r>
              <a:rPr lang="en-IN" sz="1600" b="1" dirty="0"/>
              <a:t>Prompt Template</a:t>
            </a:r>
            <a:r>
              <a:rPr lang="en-IN" sz="1600" dirty="0"/>
              <a:t> – Structures student queries to improve the accuracy and relevance of AI-generated responses.</a:t>
            </a:r>
          </a:p>
          <a:p>
            <a:pPr fontAlgn="base"/>
            <a:endParaRPr lang="en-IN" sz="1600" dirty="0"/>
          </a:p>
          <a:p>
            <a:pPr fontAlgn="base"/>
            <a:r>
              <a:rPr lang="en-IN" sz="1600" dirty="0"/>
              <a:t> </a:t>
            </a:r>
            <a:r>
              <a:rPr lang="en-IN" sz="1600" b="1" dirty="0"/>
              <a:t>Memory Component</a:t>
            </a:r>
            <a:r>
              <a:rPr lang="en-IN" sz="1600" dirty="0"/>
              <a:t> – Maintains conversation context and learning preferences for personalized assistance.</a:t>
            </a:r>
          </a:p>
          <a:p>
            <a:pPr fontAlgn="base"/>
            <a:endParaRPr lang="en-IN" sz="1600" dirty="0"/>
          </a:p>
          <a:p>
            <a:pPr fontAlgn="base"/>
            <a:r>
              <a:rPr lang="en-IN" sz="1600" dirty="0"/>
              <a:t> </a:t>
            </a:r>
            <a:r>
              <a:rPr lang="en-IN" sz="1600" b="1" dirty="0"/>
              <a:t>IBM Cloud</a:t>
            </a:r>
            <a:r>
              <a:rPr lang="en-IN" sz="1600" dirty="0"/>
              <a:t> - Enables scalable deployment, secure data management, and remote accessibility of the application.</a:t>
            </a:r>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117987" y="1234440"/>
            <a:ext cx="11926529" cy="5909310"/>
          </a:xfrm>
          <a:prstGeom prst="rect">
            <a:avLst/>
          </a:prstGeom>
          <a:noFill/>
        </p:spPr>
        <p:txBody>
          <a:bodyPr wrap="square" rtlCol="0">
            <a:spAutoFit/>
          </a:bodyPr>
          <a:lstStyle/>
          <a:p>
            <a:pPr fontAlgn="base"/>
            <a:endParaRPr lang="en-US" b="1" dirty="0"/>
          </a:p>
          <a:p>
            <a:r>
              <a:rPr lang="en-US" sz="1600" b="1" dirty="0"/>
              <a:t>Proposed Solution: AI-Powered Nutrition Agent</a:t>
            </a:r>
          </a:p>
          <a:p>
            <a:r>
              <a:rPr lang="en-US" sz="1600" dirty="0"/>
              <a:t>The proposed solution is a </a:t>
            </a:r>
            <a:r>
              <a:rPr lang="en-US" sz="1600" b="1" dirty="0"/>
              <a:t>multi-agent AI-powered Nutrition Agent</a:t>
            </a:r>
            <a:r>
              <a:rPr lang="en-US" sz="1600" dirty="0"/>
              <a:t> built using </a:t>
            </a:r>
            <a:r>
              <a:rPr lang="en-US" sz="1600" b="1" dirty="0" err="1"/>
              <a:t>LangFlow</a:t>
            </a:r>
            <a:r>
              <a:rPr lang="en-US" sz="1600" b="1" dirty="0"/>
              <a:t>, IBM watsonx.ai, and Granite Models</a:t>
            </a:r>
            <a:r>
              <a:rPr lang="en-US" sz="1600" dirty="0"/>
              <a:t> to provide personalized, real-time dietary guidance. The system addresses challenges in diet planning, nutrition tracking, and preventive healthcare through an intelligent, modular architecture.</a:t>
            </a:r>
          </a:p>
          <a:p>
            <a:r>
              <a:rPr lang="en-US" sz="1600" dirty="0"/>
              <a:t>At its core, the solution uses a </a:t>
            </a:r>
            <a:r>
              <a:rPr lang="en-US" sz="1600" b="1" dirty="0"/>
              <a:t>Retrieval-Augmented Generation (RAG)</a:t>
            </a:r>
            <a:r>
              <a:rPr lang="en-US" sz="1600"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sz="1600" dirty="0"/>
              <a:t>The system consists of four key agents:</a:t>
            </a:r>
          </a:p>
          <a:p>
            <a:r>
              <a:rPr lang="en-US" sz="1600" b="1" dirty="0"/>
              <a:t>Nutrition Knowledge Agent</a:t>
            </a:r>
            <a:r>
              <a:rPr lang="en-US" sz="1600" dirty="0"/>
              <a:t> retrieves and summarizes nutritional information using RAG. </a:t>
            </a:r>
          </a:p>
          <a:p>
            <a:r>
              <a:rPr lang="en-US" sz="1600" b="1" dirty="0"/>
              <a:t>Diet Recommendation Agent</a:t>
            </a:r>
            <a:r>
              <a:rPr lang="en-US" sz="1600" dirty="0"/>
              <a:t> generates personalized meal plans based on user inputs such as age, health conditions, dietary preferences, and fitness goals. </a:t>
            </a:r>
          </a:p>
          <a:p>
            <a:r>
              <a:rPr lang="en-US" sz="1600" b="1" dirty="0"/>
              <a:t>Health Advisory Agent</a:t>
            </a:r>
            <a:r>
              <a:rPr lang="en-US" sz="1600" dirty="0"/>
              <a:t> provides preventive health suggestions, including disease-specific diets (e.g., diabetes-friendly or heart-healthy plans). </a:t>
            </a:r>
          </a:p>
          <a:p>
            <a:r>
              <a:rPr lang="en-US" sz="1600" b="1" dirty="0"/>
              <a:t>Food Log &amp; Feedback Agent</a:t>
            </a:r>
            <a:r>
              <a:rPr lang="en-US" sz="1600" dirty="0"/>
              <a:t> allows users to log meals via text, voice, or images and delivers instant nutritional analysis with actionable feedback. </a:t>
            </a:r>
          </a:p>
          <a:p>
            <a:r>
              <a:rPr lang="en-US" sz="1600" dirty="0"/>
              <a:t>The solution includes a </a:t>
            </a:r>
            <a:r>
              <a:rPr lang="en-US" sz="1600" b="1" dirty="0"/>
              <a:t>user-friendly dashboard</a:t>
            </a:r>
            <a:r>
              <a:rPr lang="en-US" sz="1600" dirty="0"/>
              <a:t> (built with </a:t>
            </a:r>
            <a:r>
              <a:rPr lang="en-US" sz="1600" dirty="0" err="1"/>
              <a:t>Streamlit</a:t>
            </a:r>
            <a:r>
              <a:rPr lang="en-US" sz="1600" dirty="0"/>
              <a:t> or React) that visualizes daily and weekly nutrient intake, highlights deficiencies, and tracks progress toward health goals.</a:t>
            </a:r>
          </a:p>
          <a:p>
            <a:r>
              <a:rPr lang="en-US" sz="1600" dirty="0" err="1"/>
              <a:t>LangFlow</a:t>
            </a:r>
            <a:r>
              <a:rPr lang="en-US" sz="1600" dirty="0"/>
              <a:t> is used to orchestrate agent workflows, while watsonx.ai ensures scalable model deployment, embeddings, and AI governance. Granite models power reasoning, summarization, and personalization.</a:t>
            </a:r>
          </a:p>
          <a:p>
            <a:r>
              <a:rPr lang="en-US" sz="1600" dirty="0"/>
              <a:t>Overall, this solution delivers an </a:t>
            </a:r>
            <a:r>
              <a:rPr lang="en-US" sz="1600" b="1" dirty="0"/>
              <a:t>end-to-end intelligent nutrition assistant</a:t>
            </a:r>
            <a:r>
              <a:rPr lang="en-US" sz="1600"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11255062" cy="6986528"/>
          </a:xfrm>
          <a:prstGeom prst="rect">
            <a:avLst/>
          </a:prstGeom>
          <a:noFill/>
        </p:spPr>
        <p:txBody>
          <a:bodyPr wrap="square" rtlCol="0">
            <a:spAutoFit/>
          </a:bodyPr>
          <a:lstStyle/>
          <a:p>
            <a:r>
              <a:rPr lang="en-IN" b="1" dirty="0"/>
              <a:t>1) Chat Input</a:t>
            </a:r>
            <a:br>
              <a:rPr lang="en-IN" dirty="0"/>
            </a:br>
            <a:r>
              <a:rPr lang="en-IN" dirty="0"/>
              <a:t>Interface where students enter their academic details, learning goals, preferred subjects, skill levels, and study-related queries.</a:t>
            </a:r>
          </a:p>
          <a:p>
            <a:r>
              <a:rPr lang="en-IN" b="1" dirty="0"/>
              <a:t>2) IBM </a:t>
            </a:r>
            <a:r>
              <a:rPr lang="en-IN" b="1" dirty="0" err="1"/>
              <a:t>watsonx</a:t>
            </a:r>
            <a:r>
              <a:rPr lang="en-IN" b="1" dirty="0"/>
              <a:t> AI Agent</a:t>
            </a:r>
            <a:br>
              <a:rPr lang="en-IN" dirty="0"/>
            </a:br>
            <a:r>
              <a:rPr lang="en-IN" dirty="0"/>
              <a:t>Processes student inputs using IBM Granite models and </a:t>
            </a:r>
            <a:r>
              <a:rPr lang="en-IN" dirty="0" err="1"/>
              <a:t>analyzes</a:t>
            </a:r>
            <a:r>
              <a:rPr lang="en-IN" dirty="0"/>
              <a:t> learning requirements to provide personalized study guidance and recommendations.</a:t>
            </a:r>
          </a:p>
          <a:p>
            <a:r>
              <a:rPr lang="en-IN" b="1" dirty="0"/>
              <a:t>3) IBM Granite Model</a:t>
            </a:r>
            <a:br>
              <a:rPr lang="en-IN" dirty="0"/>
            </a:br>
            <a:r>
              <a:rPr lang="en-IN" b="1" dirty="0"/>
              <a:t>Granite-4.0-8B-Instruct</a:t>
            </a:r>
            <a:r>
              <a:rPr lang="en-IN" dirty="0"/>
              <a:t> → Efficient large language model used for generating personalized learning paths, study schedules, resource recommendations, and answering academic queries.</a:t>
            </a:r>
          </a:p>
          <a:p>
            <a:r>
              <a:rPr lang="en-IN" b="1" dirty="0"/>
              <a:t>4) Chat Output</a:t>
            </a:r>
            <a:br>
              <a:rPr lang="en-IN" dirty="0"/>
            </a:br>
            <a:r>
              <a:rPr lang="en-IN" dirty="0"/>
              <a:t>Displays AI-generated responses such as study plans, learning recommendations, subject-wise guidance, career suggestions, and progress improvement tips.</a:t>
            </a:r>
          </a:p>
          <a:p>
            <a:r>
              <a:rPr lang="en-IN" b="1" dirty="0"/>
              <a:t>5) File Component</a:t>
            </a:r>
            <a:br>
              <a:rPr lang="en-IN" dirty="0"/>
            </a:br>
            <a:r>
              <a:rPr lang="en-IN" dirty="0"/>
              <a:t>Stores and retrieves student profiles, learning progress, study resources, performance reports, and recommendation history for future analysis.</a:t>
            </a:r>
          </a:p>
          <a:p>
            <a:r>
              <a:rPr lang="en-IN" b="1" dirty="0"/>
              <a:t>6) Prompt Template Component</a:t>
            </a:r>
            <a:br>
              <a:rPr lang="en-IN" dirty="0"/>
            </a:br>
            <a:r>
              <a:rPr lang="en-IN" dirty="0"/>
              <a:t>Structures and formats user inputs before sending them to the Granite model, ensuring accurate and context-aware responses.</a:t>
            </a:r>
          </a:p>
          <a:p>
            <a:r>
              <a:rPr lang="en-IN" b="1" dirty="0"/>
              <a:t>7) Python Function Component</a:t>
            </a:r>
            <a:br>
              <a:rPr lang="en-IN" dirty="0"/>
            </a:br>
            <a:r>
              <a:rPr lang="en-IN" dirty="0"/>
              <a:t>Implements custom recommendation logic, progress analysis, and personalized study plan generation based on student performance data.</a:t>
            </a:r>
          </a:p>
          <a:p>
            <a:r>
              <a:rPr lang="en-IN" b="1" dirty="0"/>
              <a:t>8) Memory Component</a:t>
            </a:r>
            <a:br>
              <a:rPr lang="en-IN" dirty="0"/>
            </a:br>
            <a:r>
              <a:rPr lang="en-IN" dirty="0"/>
              <a:t>Maintains conversation history and previous learning preferences to provide more personalized and continuous guidance.</a:t>
            </a:r>
          </a:p>
          <a:p>
            <a:r>
              <a:rPr lang="en-IN" b="1" dirty="0"/>
              <a:t>9) </a:t>
            </a:r>
            <a:r>
              <a:rPr lang="en-IN" b="1" dirty="0" err="1"/>
              <a:t>Streamlit</a:t>
            </a:r>
            <a:r>
              <a:rPr lang="en-IN" b="1" dirty="0"/>
              <a:t> Interface</a:t>
            </a:r>
            <a:br>
              <a:rPr lang="en-IN" dirty="0"/>
            </a:br>
            <a:r>
              <a:rPr lang="en-IN" dirty="0"/>
              <a:t>Provides an interactive web application where students can access recommendations, view progress reports, and interact with the AI </a:t>
            </a:r>
            <a:r>
              <a:rPr lang="en-IN" dirty="0" err="1"/>
              <a:t>StudyMentor</a:t>
            </a:r>
            <a:r>
              <a:rPr lang="en-IN" dirty="0"/>
              <a:t> system.</a:t>
            </a:r>
          </a:p>
          <a:p>
            <a:r>
              <a:rPr lang="en-IN" b="1" dirty="0"/>
              <a:t>10) IBM Cloud Deployment Component</a:t>
            </a:r>
            <a:br>
              <a:rPr lang="en-IN" dirty="0"/>
            </a:br>
            <a:r>
              <a:rPr lang="en-IN" dirty="0"/>
              <a:t>Hosts the application and enables secure access, scalability, and cloud-based storage for student data and AI services.</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13" name="Picture 12">
            <a:extLst>
              <a:ext uri="{FF2B5EF4-FFF2-40B4-BE49-F238E27FC236}">
                <a16:creationId xmlns:a16="http://schemas.microsoft.com/office/drawing/2014/main" id="{666D44EE-1441-80DD-E803-47F6EFD8C209}"/>
              </a:ext>
            </a:extLst>
          </p:cNvPr>
          <p:cNvPicPr>
            <a:picLocks noChangeAspect="1"/>
          </p:cNvPicPr>
          <p:nvPr/>
        </p:nvPicPr>
        <p:blipFill>
          <a:blip r:embed="rId3"/>
          <a:stretch>
            <a:fillRect/>
          </a:stretch>
        </p:blipFill>
        <p:spPr>
          <a:xfrm>
            <a:off x="814848" y="866464"/>
            <a:ext cx="10856042" cy="566829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descr="Right Web App Architecture for Modern Development">
            <a:extLst>
              <a:ext uri="{FF2B5EF4-FFF2-40B4-BE49-F238E27FC236}">
                <a16:creationId xmlns:a16="http://schemas.microsoft.com/office/drawing/2014/main" id="{7DC779F0-2964-A7A4-13BC-10931D5BBCCF}"/>
              </a:ext>
            </a:extLst>
          </p:cNvPr>
          <p:cNvPicPr>
            <a:picLocks noChangeAspect="1"/>
          </p:cNvPicPr>
          <p:nvPr/>
        </p:nvPicPr>
        <p:blipFill>
          <a:blip r:embed="rId3"/>
          <a:stretch>
            <a:fillRect/>
          </a:stretch>
        </p:blipFill>
        <p:spPr>
          <a:xfrm>
            <a:off x="740605" y="743561"/>
            <a:ext cx="10913805" cy="5791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AC86F76A-3320-8427-8751-D7530A73C84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889CB1B-9B55-BDB8-3077-DC6518FCB662}"/>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3" name="Picture 2" descr="IBM Cloud Docs">
            <a:extLst>
              <a:ext uri="{FF2B5EF4-FFF2-40B4-BE49-F238E27FC236}">
                <a16:creationId xmlns:a16="http://schemas.microsoft.com/office/drawing/2014/main" id="{B4E38C0F-FA50-33B6-7309-536E7460C5E4}"/>
              </a:ext>
            </a:extLst>
          </p:cNvPr>
          <p:cNvPicPr>
            <a:picLocks noChangeAspect="1"/>
          </p:cNvPicPr>
          <p:nvPr/>
        </p:nvPicPr>
        <p:blipFill>
          <a:blip r:embed="rId3"/>
          <a:stretch>
            <a:fillRect/>
          </a:stretch>
        </p:blipFill>
        <p:spPr>
          <a:xfrm>
            <a:off x="1366684" y="1031392"/>
            <a:ext cx="9144000" cy="4977114"/>
          </a:xfrm>
          <a:prstGeom prst="rect">
            <a:avLst/>
          </a:prstGeom>
        </p:spPr>
      </p:pic>
    </p:spTree>
    <p:extLst>
      <p:ext uri="{BB962C8B-B14F-4D97-AF65-F5344CB8AC3E}">
        <p14:creationId xmlns:p14="http://schemas.microsoft.com/office/powerpoint/2010/main" val="396880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47536"/>
          </a:xfrm>
          <a:prstGeom prst="rect">
            <a:avLst/>
          </a:prstGeom>
          <a:noFill/>
        </p:spPr>
        <p:txBody>
          <a:bodyPr wrap="square" rtlCol="0">
            <a:spAutoFit/>
          </a:bodyPr>
          <a:lstStyle/>
          <a:p>
            <a:r>
              <a:rPr lang="en-IN" b="1" dirty="0"/>
              <a:t>Agentic AI acts as an intelligent academic assistant that can understand student needs, make decisions, and provide personalized learning guidance without constant human intervention.</a:t>
            </a:r>
            <a:endParaRPr lang="en-IN" dirty="0"/>
          </a:p>
          <a:p>
            <a:r>
              <a:rPr lang="en-IN" dirty="0"/>
              <a:t>The Agentic AI in AI </a:t>
            </a:r>
            <a:r>
              <a:rPr lang="en-IN" dirty="0" err="1"/>
              <a:t>StudyMentor</a:t>
            </a:r>
            <a:r>
              <a:rPr lang="en-IN" dirty="0"/>
              <a:t> performs the following functions:</a:t>
            </a:r>
          </a:p>
          <a:p>
            <a:r>
              <a:rPr lang="en-IN" b="1" dirty="0" err="1"/>
              <a:t>Analyzes</a:t>
            </a:r>
            <a:r>
              <a:rPr lang="en-IN" b="1" dirty="0"/>
              <a:t> Student Requirements:</a:t>
            </a:r>
            <a:r>
              <a:rPr lang="en-IN" dirty="0"/>
              <a:t> Understands students' learning goals, strengths, weaknesses, and subject preferences. </a:t>
            </a:r>
          </a:p>
          <a:p>
            <a:r>
              <a:rPr lang="en-IN" b="1" dirty="0"/>
              <a:t>Generates Personalized Study Plans:</a:t>
            </a:r>
            <a:r>
              <a:rPr lang="en-IN" dirty="0"/>
              <a:t> Creates customized study schedules and learning paths based on individual needs. </a:t>
            </a:r>
          </a:p>
          <a:p>
            <a:r>
              <a:rPr lang="en-IN" b="1" dirty="0"/>
              <a:t>Recommends Learning Resources:</a:t>
            </a:r>
            <a:r>
              <a:rPr lang="en-IN" dirty="0"/>
              <a:t> Suggests relevant courses, tutorials, books, and practice materials. </a:t>
            </a:r>
          </a:p>
          <a:p>
            <a:r>
              <a:rPr lang="en-IN" b="1" dirty="0"/>
              <a:t>Tracks Learning Progress:</a:t>
            </a:r>
            <a:r>
              <a:rPr lang="en-IN" dirty="0"/>
              <a:t> Monitors student performance and adapts recommendations accordingly. </a:t>
            </a:r>
          </a:p>
          <a:p>
            <a:r>
              <a:rPr lang="en-IN" b="1" dirty="0"/>
              <a:t>Provides Real-Time Assistance:</a:t>
            </a:r>
            <a:r>
              <a:rPr lang="en-IN" dirty="0"/>
              <a:t> Answers academic questions and offers instant guidance through a conversational interface. </a:t>
            </a:r>
          </a:p>
          <a:p>
            <a:r>
              <a:rPr lang="en-IN" b="1" dirty="0"/>
              <a:t>Improves Decision-Making:</a:t>
            </a:r>
            <a:r>
              <a:rPr lang="en-IN" dirty="0"/>
              <a:t> Continuously evaluates student progress and adjusts study strategies for better outcomes. </a:t>
            </a:r>
          </a:p>
          <a:p>
            <a:r>
              <a:rPr lang="en-IN" b="1" dirty="0"/>
              <a:t>Enhances Learning Experience:</a:t>
            </a:r>
            <a:r>
              <a:rPr lang="en-IN" dirty="0"/>
              <a:t> Delivers tailored recommendations that help students learn more effectively and efficiently. </a:t>
            </a:r>
          </a:p>
          <a:p>
            <a:r>
              <a:rPr lang="en-IN" b="1" dirty="0"/>
              <a:t>Impact of Agentic AI</a:t>
            </a:r>
          </a:p>
          <a:p>
            <a:r>
              <a:rPr lang="en-IN" dirty="0"/>
              <a:t>By leveraging IBM </a:t>
            </a:r>
            <a:r>
              <a:rPr lang="en-IN" dirty="0" err="1"/>
              <a:t>watsonx</a:t>
            </a:r>
            <a:r>
              <a:rPr lang="en-IN" dirty="0"/>
              <a:t> AI and Granite models, the Agentic AI system transforms traditional learning guidance into an intelligent, adaptive, and personalized educational experience. It acts as a virtual mentor, helping students achieve their academic goals through data-driven recommendations and continuous support.</a:t>
            </a:r>
          </a:p>
        </p:txBody>
      </p:sp>
      <p:pic>
        <p:nvPicPr>
          <p:cNvPr id="4" name="Picture 3">
            <a:extLst>
              <a:ext uri="{FF2B5EF4-FFF2-40B4-BE49-F238E27FC236}">
                <a16:creationId xmlns:a16="http://schemas.microsoft.com/office/drawing/2014/main" id="{BC44673F-FED3-59B9-13F3-7EFF255F0891}"/>
              </a:ext>
            </a:extLst>
          </p:cNvPr>
          <p:cNvPicPr>
            <a:picLocks noChangeAspect="1"/>
          </p:cNvPicPr>
          <p:nvPr/>
        </p:nvPicPr>
        <p:blipFill>
          <a:blip r:embed="rId3"/>
          <a:stretch>
            <a:fillRect/>
          </a:stretch>
        </p:blipFill>
        <p:spPr>
          <a:xfrm>
            <a:off x="8105001" y="684006"/>
            <a:ext cx="3611511" cy="51858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275794" y="81510"/>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21601" y="818477"/>
            <a:ext cx="12148050" cy="5016758"/>
          </a:xfrm>
          <a:prstGeom prst="rect">
            <a:avLst/>
          </a:prstGeom>
          <a:noFill/>
        </p:spPr>
        <p:txBody>
          <a:bodyPr wrap="square" rtlCol="0">
            <a:spAutoFit/>
          </a:bodyPr>
          <a:lstStyle/>
          <a:p>
            <a:r>
              <a:rPr lang="en-IN" sz="2000" dirty="0"/>
              <a:t>Uses </a:t>
            </a:r>
            <a:r>
              <a:rPr lang="en-IN" sz="2000" b="1" dirty="0"/>
              <a:t>IBM Granite AI models</a:t>
            </a:r>
            <a:r>
              <a:rPr lang="en-IN" sz="2000" dirty="0"/>
              <a:t> to provide personalized learning recommendations.</a:t>
            </a:r>
          </a:p>
          <a:p>
            <a:r>
              <a:rPr lang="en-IN" sz="2000" dirty="0"/>
              <a:t> </a:t>
            </a:r>
          </a:p>
          <a:p>
            <a:r>
              <a:rPr lang="en-IN" sz="2000" dirty="0"/>
              <a:t>Generates </a:t>
            </a:r>
            <a:r>
              <a:rPr lang="en-IN" sz="2000" b="1" dirty="0"/>
              <a:t>custom study plans</a:t>
            </a:r>
            <a:r>
              <a:rPr lang="en-IN" sz="2000" dirty="0"/>
              <a:t> based on student goals and performance.</a:t>
            </a:r>
          </a:p>
          <a:p>
            <a:endParaRPr lang="en-IN" sz="2000" dirty="0"/>
          </a:p>
          <a:p>
            <a:r>
              <a:rPr lang="en-IN" sz="2000" dirty="0"/>
              <a:t> Employs </a:t>
            </a:r>
            <a:r>
              <a:rPr lang="en-IN" sz="2000" b="1" dirty="0"/>
              <a:t>Agentic AI</a:t>
            </a:r>
            <a:r>
              <a:rPr lang="en-IN" sz="2000" dirty="0"/>
              <a:t> for intelligent decision-making and adaptive guidance. </a:t>
            </a:r>
          </a:p>
          <a:p>
            <a:endParaRPr lang="en-IN" sz="2000" dirty="0"/>
          </a:p>
          <a:p>
            <a:r>
              <a:rPr lang="en-IN" sz="2000" dirty="0"/>
              <a:t>Integrates </a:t>
            </a:r>
            <a:r>
              <a:rPr lang="en-IN" sz="2000" b="1" dirty="0" err="1"/>
              <a:t>Langflow</a:t>
            </a:r>
            <a:r>
              <a:rPr lang="en-IN" sz="2000" dirty="0"/>
              <a:t> for efficient AI workflow orchestration. </a:t>
            </a:r>
          </a:p>
          <a:p>
            <a:endParaRPr lang="en-IN" sz="2000" dirty="0"/>
          </a:p>
          <a:p>
            <a:r>
              <a:rPr lang="en-IN" sz="2000" dirty="0"/>
              <a:t>Cloud-based solution enabling </a:t>
            </a:r>
            <a:r>
              <a:rPr lang="en-IN" sz="2000" b="1" dirty="0"/>
              <a:t>anytime, anywhere access</a:t>
            </a:r>
            <a:r>
              <a:rPr lang="en-IN" sz="2000" dirty="0"/>
              <a:t>.</a:t>
            </a:r>
          </a:p>
          <a:p>
            <a:r>
              <a:rPr lang="en-IN" sz="2000" dirty="0"/>
              <a:t> </a:t>
            </a:r>
          </a:p>
          <a:p>
            <a:r>
              <a:rPr lang="en-IN" sz="2000" dirty="0"/>
              <a:t>Acts as a </a:t>
            </a:r>
            <a:r>
              <a:rPr lang="en-IN" sz="2000" b="1" dirty="0"/>
              <a:t>virtual mentor</a:t>
            </a:r>
            <a:r>
              <a:rPr lang="en-IN" sz="2000" dirty="0"/>
              <a:t>, offering real-time academic support and progress tracking. </a:t>
            </a:r>
          </a:p>
          <a:p>
            <a:endParaRPr lang="en-IN" sz="2000" dirty="0"/>
          </a:p>
          <a:p>
            <a:r>
              <a:rPr lang="en-IN" sz="2000" dirty="0"/>
              <a:t>Provides </a:t>
            </a:r>
            <a:r>
              <a:rPr lang="en-IN" sz="2000" b="1" dirty="0"/>
              <a:t>personalized resource recommendations</a:t>
            </a:r>
            <a:r>
              <a:rPr lang="en-IN" sz="2000" dirty="0"/>
              <a:t> such as courses, tutorials, and study materials. </a:t>
            </a:r>
          </a:p>
          <a:p>
            <a:endParaRPr lang="en-IN" sz="2000" dirty="0"/>
          </a:p>
          <a:p>
            <a:r>
              <a:rPr lang="en-IN" sz="2000" dirty="0"/>
              <a:t>Continuously </a:t>
            </a:r>
            <a:r>
              <a:rPr lang="en-IN" sz="2000" b="1" dirty="0" err="1"/>
              <a:t>analyzes</a:t>
            </a:r>
            <a:r>
              <a:rPr lang="en-IN" sz="2000" b="1" dirty="0"/>
              <a:t> learning progress</a:t>
            </a:r>
            <a:r>
              <a:rPr lang="en-IN" sz="2000" dirty="0"/>
              <a:t> and updates recommendations to improve academic outcomes.</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https://github.com/deepikabalaji006/AI-StudyMentor</a:t>
            </a: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264995" y="3108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422787" y="572786"/>
            <a:ext cx="11769213"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600" b="1" dirty="0"/>
              <a:t>Advanced AI Personalization:</a:t>
            </a:r>
            <a:r>
              <a:rPr lang="en-IN" sz="1600" dirty="0"/>
              <a:t> Future versions can leverage more powerful IBM Granite models to </a:t>
            </a:r>
            <a:r>
              <a:rPr lang="en-IN" sz="1600" dirty="0" err="1"/>
              <a:t>analyze</a:t>
            </a:r>
            <a:r>
              <a:rPr lang="en-IN" sz="1600" dirty="0"/>
              <a:t> student learning patterns and generate highly personalized study plans, recommendations, and assessments. </a:t>
            </a:r>
          </a:p>
          <a:p>
            <a:pPr lvl="0">
              <a:lnSpc>
                <a:spcPct val="162162"/>
              </a:lnSpc>
              <a:buClr>
                <a:srgbClr val="2B3541"/>
              </a:buClr>
              <a:buSzPts val="1850"/>
            </a:pPr>
            <a:r>
              <a:rPr lang="en-IN" sz="1600" b="1" dirty="0"/>
              <a:t>Mobile Application Development:</a:t>
            </a:r>
            <a:r>
              <a:rPr lang="en-IN" sz="1600" dirty="0"/>
              <a:t> A dedicated mobile app can be developed to provide seamless access to learning resources, progress tracking, and AI-powered guidance anytime and anywhere.</a:t>
            </a:r>
          </a:p>
          <a:p>
            <a:pPr lvl="0">
              <a:lnSpc>
                <a:spcPct val="162162"/>
              </a:lnSpc>
              <a:buClr>
                <a:srgbClr val="2B3541"/>
              </a:buClr>
              <a:buSzPts val="1850"/>
            </a:pPr>
            <a:r>
              <a:rPr lang="en-IN" sz="1600" dirty="0"/>
              <a:t> </a:t>
            </a:r>
            <a:r>
              <a:rPr lang="en-IN" sz="1600" b="1" dirty="0"/>
              <a:t>Career Guidance Integration:</a:t>
            </a:r>
            <a:r>
              <a:rPr lang="en-IN" sz="1600" dirty="0"/>
              <a:t> The system can be expanded to recommend career paths, certifications, internships, and skill-development opportunities based on students' interests and academic performance.</a:t>
            </a:r>
          </a:p>
          <a:p>
            <a:pPr lvl="0">
              <a:lnSpc>
                <a:spcPct val="162162"/>
              </a:lnSpc>
              <a:buClr>
                <a:srgbClr val="2B3541"/>
              </a:buClr>
              <a:buSzPts val="1850"/>
            </a:pPr>
            <a:r>
              <a:rPr lang="en-IN" sz="1600" dirty="0"/>
              <a:t> </a:t>
            </a:r>
            <a:r>
              <a:rPr lang="en-IN" sz="1600" b="1" dirty="0"/>
              <a:t>Multilingual and Voice Support:</a:t>
            </a:r>
            <a:r>
              <a:rPr lang="en-IN" sz="1600" dirty="0"/>
              <a:t> Adding support for multiple languages and voice-based interaction will make the platform accessible to a wider range of students from diverse backgrounds. </a:t>
            </a:r>
          </a:p>
          <a:p>
            <a:pPr lvl="0">
              <a:lnSpc>
                <a:spcPct val="162162"/>
              </a:lnSpc>
              <a:buClr>
                <a:srgbClr val="2B3541"/>
              </a:buClr>
              <a:buSzPts val="1850"/>
            </a:pPr>
            <a:r>
              <a:rPr lang="en-IN" sz="1600" b="1" dirty="0"/>
              <a:t>Learning Analytics Dashboard:</a:t>
            </a:r>
            <a:r>
              <a:rPr lang="en-IN" sz="1600" dirty="0"/>
              <a:t> Advanced analytics can be integrated to provide detailed insights into student performance, learning </a:t>
            </a:r>
            <a:r>
              <a:rPr lang="en-IN" sz="1600" dirty="0" err="1"/>
              <a:t>behavior</a:t>
            </a:r>
            <a:r>
              <a:rPr lang="en-IN" sz="1600" dirty="0"/>
              <a:t>, strengths, and areas requiring improvement. </a:t>
            </a:r>
          </a:p>
          <a:p>
            <a:pPr lvl="0">
              <a:lnSpc>
                <a:spcPct val="162162"/>
              </a:lnSpc>
              <a:buClr>
                <a:srgbClr val="2B3541"/>
              </a:buClr>
              <a:buSzPts val="1850"/>
            </a:pPr>
            <a:r>
              <a:rPr lang="en-IN" sz="1600" b="1" dirty="0"/>
              <a:t>Integration with E-Learning Platforms:</a:t>
            </a:r>
            <a:r>
              <a:rPr lang="en-IN" sz="1600" dirty="0"/>
              <a:t> The solution can be connected with platforms such as Coursera, Udemy, NPTEL, and LMS systems to automatically recommend relevant courses and learning materials. </a:t>
            </a:r>
          </a:p>
          <a:p>
            <a:pPr lvl="0">
              <a:lnSpc>
                <a:spcPct val="162162"/>
              </a:lnSpc>
              <a:buClr>
                <a:srgbClr val="2B3541"/>
              </a:buClr>
              <a:buSzPts val="1850"/>
            </a:pPr>
            <a:r>
              <a:rPr lang="en-IN" sz="1600" b="1" dirty="0"/>
              <a:t>Collaborative Learning Features:</a:t>
            </a:r>
            <a:r>
              <a:rPr lang="en-IN" sz="1600" dirty="0"/>
              <a:t> Future enhancements may include peer-to-peer learning, group discussions, mentoring programs, and collaborative project recommendations. </a:t>
            </a:r>
            <a:endParaRPr sz="1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1294</TotalTime>
  <Words>1469</Words>
  <Application>Microsoft Office PowerPoint</Application>
  <PresentationFormat>Widescreen</PresentationFormat>
  <Paragraphs>116</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yugendran balaji</cp:lastModifiedBy>
  <cp:revision>42</cp:revision>
  <dcterms:created xsi:type="dcterms:W3CDTF">2025-07-08T05:06:56Z</dcterms:created>
  <dcterms:modified xsi:type="dcterms:W3CDTF">2026-06-13T16:03:12Z</dcterms:modified>
</cp:coreProperties>
</file>